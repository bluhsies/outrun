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d5bb8b130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d5bb8b130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161460ab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161460ab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161460ab8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161460ab8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161460ab81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161460ab8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161460ab8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161460ab8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161460ab81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161460ab81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d5bb8b130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d5bb8b130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learningzone.dmu.ac.uk/d2l/le/enhancedSequenceViewer/113097?url=https%3A%2F%2F9ae52c92-0347-490b-b2a7-e5cdc4602172.sequences.api.brightspace.com%2F113097%2Factivity%2F2154731%3FfilterOnDatesAndDepth%3D1"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u="sng">
                <a:solidFill>
                  <a:srgbClr val="D7B392"/>
                </a:solidFill>
              </a:rPr>
              <a:t>OUTRUN</a:t>
            </a:r>
            <a:endParaRPr b="1" u="sng">
              <a:solidFill>
                <a:srgbClr val="D7B392"/>
              </a:solidFill>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solidFill>
                  <a:srgbClr val="D7B392"/>
                </a:solidFill>
              </a:rPr>
              <a:t>By P.S.W.S</a:t>
            </a:r>
            <a:endParaRPr>
              <a:solidFill>
                <a:srgbClr val="D7B392"/>
              </a:solidFill>
            </a:endParaRPr>
          </a:p>
          <a:p>
            <a:pPr indent="0" lvl="0" marL="0" rtl="0" algn="ctr">
              <a:spcBef>
                <a:spcPts val="0"/>
              </a:spcBef>
              <a:spcAft>
                <a:spcPts val="0"/>
              </a:spcAft>
              <a:buNone/>
            </a:pPr>
            <a:r>
              <a:rPr lang="en">
                <a:solidFill>
                  <a:srgbClr val="D7B392"/>
                </a:solidFill>
              </a:rPr>
              <a:t>Group 4</a:t>
            </a:r>
            <a:endParaRPr>
              <a:solidFill>
                <a:srgbClr val="D7B392"/>
              </a:solidFill>
            </a:endParaRPr>
          </a:p>
        </p:txBody>
      </p:sp>
      <p:sp>
        <p:nvSpPr>
          <p:cNvPr id="56" name="Google Shape;56;p13"/>
          <p:cNvSpPr txBox="1"/>
          <p:nvPr/>
        </p:nvSpPr>
        <p:spPr>
          <a:xfrm>
            <a:off x="126325" y="4108625"/>
            <a:ext cx="2108400" cy="89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D7B392"/>
                </a:solidFill>
                <a:latin typeface="Comic Sans MS"/>
                <a:ea typeface="Comic Sans MS"/>
                <a:cs typeface="Comic Sans MS"/>
                <a:sym typeface="Comic Sans MS"/>
              </a:rPr>
              <a:t>Ian Corkill</a:t>
            </a:r>
            <a:endParaRPr sz="1800">
              <a:solidFill>
                <a:srgbClr val="D7B392"/>
              </a:solidFill>
              <a:latin typeface="Comic Sans MS"/>
              <a:ea typeface="Comic Sans MS"/>
              <a:cs typeface="Comic Sans MS"/>
              <a:sym typeface="Comic Sans MS"/>
            </a:endParaRPr>
          </a:p>
          <a:p>
            <a:pPr indent="0" lvl="0" marL="0" rtl="0" algn="l">
              <a:spcBef>
                <a:spcPts val="0"/>
              </a:spcBef>
              <a:spcAft>
                <a:spcPts val="0"/>
              </a:spcAft>
              <a:buNone/>
            </a:pPr>
            <a:r>
              <a:rPr lang="en" sz="1800">
                <a:solidFill>
                  <a:srgbClr val="D7B392"/>
                </a:solidFill>
                <a:latin typeface="Comic Sans MS"/>
                <a:ea typeface="Comic Sans MS"/>
                <a:cs typeface="Comic Sans MS"/>
                <a:sym typeface="Comic Sans MS"/>
              </a:rPr>
              <a:t>Max Evans</a:t>
            </a:r>
            <a:endParaRPr sz="1800">
              <a:solidFill>
                <a:srgbClr val="D7B392"/>
              </a:solidFill>
              <a:latin typeface="Comic Sans MS"/>
              <a:ea typeface="Comic Sans MS"/>
              <a:cs typeface="Comic Sans MS"/>
              <a:sym typeface="Comic Sans MS"/>
            </a:endParaRPr>
          </a:p>
          <a:p>
            <a:pPr indent="0" lvl="0" marL="0" rtl="0" algn="l">
              <a:spcBef>
                <a:spcPts val="0"/>
              </a:spcBef>
              <a:spcAft>
                <a:spcPts val="0"/>
              </a:spcAft>
              <a:buClr>
                <a:schemeClr val="dk1"/>
              </a:buClr>
              <a:buSzPts val="1100"/>
              <a:buFont typeface="Arial"/>
              <a:buNone/>
            </a:pPr>
            <a:r>
              <a:rPr lang="en" sz="1800">
                <a:solidFill>
                  <a:srgbClr val="D7B392"/>
                </a:solidFill>
                <a:latin typeface="Comic Sans MS"/>
                <a:ea typeface="Comic Sans MS"/>
                <a:cs typeface="Comic Sans MS"/>
                <a:sym typeface="Comic Sans MS"/>
              </a:rPr>
              <a:t>Harvey Palmer</a:t>
            </a:r>
            <a:endParaRPr sz="1800">
              <a:solidFill>
                <a:srgbClr val="D7B392"/>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u="sng">
                <a:solidFill>
                  <a:srgbClr val="D7B392"/>
                </a:solidFill>
              </a:rPr>
              <a:t>The </a:t>
            </a:r>
            <a:r>
              <a:rPr b="1" lang="en" u="sng">
                <a:solidFill>
                  <a:srgbClr val="D7B392"/>
                </a:solidFill>
              </a:rPr>
              <a:t>Game</a:t>
            </a:r>
            <a:endParaRPr b="1" u="sng">
              <a:solidFill>
                <a:srgbClr val="D7B392"/>
              </a:solidFill>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D7B392"/>
                </a:solidFill>
              </a:rPr>
              <a:t>To show you Outrun, we would like to let the game speak for itself</a:t>
            </a:r>
            <a:endParaRPr>
              <a:solidFill>
                <a:srgbClr val="D7B392"/>
              </a:solidFill>
            </a:endParaRPr>
          </a:p>
          <a:p>
            <a:pPr indent="0" lvl="0" marL="0" rtl="0" algn="ctr">
              <a:spcBef>
                <a:spcPts val="1200"/>
              </a:spcBef>
              <a:spcAft>
                <a:spcPts val="0"/>
              </a:spcAft>
              <a:buNone/>
            </a:pPr>
            <a:r>
              <a:t/>
            </a:r>
            <a:endParaRPr>
              <a:solidFill>
                <a:srgbClr val="D7B392"/>
              </a:solidFill>
            </a:endParaRPr>
          </a:p>
          <a:p>
            <a:pPr indent="0" lvl="0" marL="0" rtl="0" algn="l">
              <a:spcBef>
                <a:spcPts val="1200"/>
              </a:spcBef>
              <a:spcAft>
                <a:spcPts val="1200"/>
              </a:spcAft>
              <a:buNone/>
            </a:pPr>
            <a:r>
              <a:rPr lang="en">
                <a:solidFill>
                  <a:srgbClr val="D7B392"/>
                </a:solidFill>
              </a:rPr>
              <a:t>. </a:t>
            </a:r>
            <a:endParaRPr>
              <a:solidFill>
                <a:srgbClr val="D7B392"/>
              </a:solidFill>
            </a:endParaRPr>
          </a:p>
        </p:txBody>
      </p:sp>
      <p:sp>
        <p:nvSpPr>
          <p:cNvPr id="63" name="Google Shape;63;p14"/>
          <p:cNvSpPr txBox="1"/>
          <p:nvPr>
            <p:ph idx="1" type="body"/>
          </p:nvPr>
        </p:nvSpPr>
        <p:spPr>
          <a:xfrm>
            <a:off x="311700" y="1152475"/>
            <a:ext cx="4260300" cy="3814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u="sng">
                <a:solidFill>
                  <a:srgbClr val="D7B392"/>
                </a:solidFill>
              </a:rPr>
              <a:t>LEVELS</a:t>
            </a:r>
            <a:endParaRPr b="1" u="sng">
              <a:solidFill>
                <a:srgbClr val="D7B392"/>
              </a:solidFill>
            </a:endParaRPr>
          </a:p>
          <a:p>
            <a:pPr indent="-342900" lvl="0" marL="457200" rtl="0" algn="l">
              <a:spcBef>
                <a:spcPts val="1200"/>
              </a:spcBef>
              <a:spcAft>
                <a:spcPts val="0"/>
              </a:spcAft>
              <a:buClr>
                <a:srgbClr val="D7B392"/>
              </a:buClr>
              <a:buSzPts val="1800"/>
              <a:buChar char="●"/>
            </a:pPr>
            <a:r>
              <a:rPr lang="en">
                <a:solidFill>
                  <a:srgbClr val="D7B392"/>
                </a:solidFill>
              </a:rPr>
              <a:t>Core Idea</a:t>
            </a:r>
            <a:endParaRPr>
              <a:solidFill>
                <a:srgbClr val="D7B392"/>
              </a:solidFill>
            </a:endParaRPr>
          </a:p>
          <a:p>
            <a:pPr indent="-342900" lvl="0" marL="457200" rtl="0" algn="l">
              <a:spcBef>
                <a:spcPts val="0"/>
              </a:spcBef>
              <a:spcAft>
                <a:spcPts val="0"/>
              </a:spcAft>
              <a:buClr>
                <a:srgbClr val="D7B392"/>
              </a:buClr>
              <a:buSzPts val="1800"/>
              <a:buChar char="●"/>
            </a:pPr>
            <a:r>
              <a:rPr lang="en">
                <a:solidFill>
                  <a:srgbClr val="D7B392"/>
                </a:solidFill>
              </a:rPr>
              <a:t>Changes in Development</a:t>
            </a:r>
            <a:endParaRPr>
              <a:solidFill>
                <a:srgbClr val="D7B392"/>
              </a:solidFill>
            </a:endParaRPr>
          </a:p>
          <a:p>
            <a:pPr indent="-342900" lvl="0" marL="457200" rtl="0" algn="l">
              <a:spcBef>
                <a:spcPts val="0"/>
              </a:spcBef>
              <a:spcAft>
                <a:spcPts val="0"/>
              </a:spcAft>
              <a:buClr>
                <a:srgbClr val="D7B392"/>
              </a:buClr>
              <a:buSzPts val="1800"/>
              <a:buChar char="●"/>
            </a:pPr>
            <a:r>
              <a:rPr lang="en">
                <a:solidFill>
                  <a:srgbClr val="D7B392"/>
                </a:solidFill>
              </a:rPr>
              <a:t>The problem with </a:t>
            </a:r>
            <a:r>
              <a:rPr lang="en">
                <a:solidFill>
                  <a:srgbClr val="D7B392"/>
                </a:solidFill>
              </a:rPr>
              <a:t>over specialisation</a:t>
            </a:r>
            <a:r>
              <a:rPr lang="en">
                <a:solidFill>
                  <a:srgbClr val="D7B392"/>
                </a:solidFill>
              </a:rPr>
              <a:t> in Unreal</a:t>
            </a:r>
            <a:endParaRPr>
              <a:solidFill>
                <a:srgbClr val="D7B392"/>
              </a:solidFill>
            </a:endParaRPr>
          </a:p>
          <a:p>
            <a:pPr indent="-342900" lvl="0" marL="457200" rtl="0" algn="l">
              <a:spcBef>
                <a:spcPts val="0"/>
              </a:spcBef>
              <a:spcAft>
                <a:spcPts val="0"/>
              </a:spcAft>
              <a:buClr>
                <a:srgbClr val="D7B392"/>
              </a:buClr>
              <a:buSzPts val="1800"/>
              <a:buChar char="●"/>
            </a:pPr>
            <a:r>
              <a:rPr lang="en">
                <a:solidFill>
                  <a:srgbClr val="D7B392"/>
                </a:solidFill>
              </a:rPr>
              <a:t>The Move to Static Streaming</a:t>
            </a:r>
            <a:endParaRPr>
              <a:solidFill>
                <a:srgbClr val="D7B392"/>
              </a:solidFill>
            </a:endParaRPr>
          </a:p>
          <a:p>
            <a:pPr indent="-342900" lvl="0" marL="457200" rtl="0" algn="l">
              <a:spcBef>
                <a:spcPts val="0"/>
              </a:spcBef>
              <a:spcAft>
                <a:spcPts val="0"/>
              </a:spcAft>
              <a:buClr>
                <a:srgbClr val="D7B392"/>
              </a:buClr>
              <a:buSzPts val="1800"/>
              <a:buChar char="●"/>
            </a:pPr>
            <a:r>
              <a:rPr lang="en">
                <a:solidFill>
                  <a:srgbClr val="D7B392"/>
                </a:solidFill>
              </a:rPr>
              <a:t>Designing for Multiplayer</a:t>
            </a:r>
            <a:endParaRPr>
              <a:solidFill>
                <a:srgbClr val="D7B392"/>
              </a:solidFill>
            </a:endParaRPr>
          </a:p>
          <a:p>
            <a:pPr indent="-342900" lvl="0" marL="457200" rtl="0" algn="l">
              <a:spcBef>
                <a:spcPts val="0"/>
              </a:spcBef>
              <a:spcAft>
                <a:spcPts val="0"/>
              </a:spcAft>
              <a:buClr>
                <a:srgbClr val="D7B392"/>
              </a:buClr>
              <a:buSzPts val="1800"/>
              <a:buChar char="●"/>
            </a:pPr>
            <a:r>
              <a:rPr lang="en">
                <a:solidFill>
                  <a:srgbClr val="D7B392"/>
                </a:solidFill>
              </a:rPr>
              <a:t>The problems of Multiplayer</a:t>
            </a:r>
            <a:endParaRPr>
              <a:solidFill>
                <a:srgbClr val="D7B392"/>
              </a:solidFill>
            </a:endParaRPr>
          </a:p>
          <a:p>
            <a:pPr indent="-342900" lvl="0" marL="457200" rtl="0" algn="l">
              <a:spcBef>
                <a:spcPts val="0"/>
              </a:spcBef>
              <a:spcAft>
                <a:spcPts val="0"/>
              </a:spcAft>
              <a:buClr>
                <a:srgbClr val="D7B392"/>
              </a:buClr>
              <a:buSzPts val="1800"/>
              <a:buChar char="●"/>
            </a:pPr>
            <a:r>
              <a:rPr lang="en">
                <a:solidFill>
                  <a:srgbClr val="D7B392"/>
                </a:solidFill>
              </a:rPr>
              <a:t>Optimisation</a:t>
            </a:r>
            <a:endParaRPr>
              <a:solidFill>
                <a:srgbClr val="D7B392"/>
              </a:solidFill>
            </a:endParaRPr>
          </a:p>
        </p:txBody>
      </p:sp>
      <p:pic>
        <p:nvPicPr>
          <p:cNvPr id="64" name="Google Shape;64;p14"/>
          <p:cNvPicPr preferRelativeResize="0"/>
          <p:nvPr/>
        </p:nvPicPr>
        <p:blipFill rotWithShape="1">
          <a:blip r:embed="rId3">
            <a:alphaModFix/>
          </a:blip>
          <a:srcRect b="-10430" l="46873" r="846" t="12678"/>
          <a:stretch/>
        </p:blipFill>
        <p:spPr>
          <a:xfrm>
            <a:off x="5478175" y="541075"/>
            <a:ext cx="3248775" cy="1974525"/>
          </a:xfrm>
          <a:prstGeom prst="rect">
            <a:avLst/>
          </a:prstGeom>
          <a:noFill/>
          <a:ln>
            <a:noFill/>
          </a:ln>
        </p:spPr>
      </p:pic>
      <p:pic>
        <p:nvPicPr>
          <p:cNvPr id="65" name="Google Shape;65;p14"/>
          <p:cNvPicPr preferRelativeResize="0"/>
          <p:nvPr/>
        </p:nvPicPr>
        <p:blipFill rotWithShape="1">
          <a:blip r:embed="rId3">
            <a:alphaModFix/>
          </a:blip>
          <a:srcRect b="0" l="0" r="56903" t="5383"/>
          <a:stretch/>
        </p:blipFill>
        <p:spPr>
          <a:xfrm>
            <a:off x="5490787" y="2515600"/>
            <a:ext cx="3223542" cy="2300450"/>
          </a:xfrm>
          <a:prstGeom prst="rect">
            <a:avLst/>
          </a:prstGeom>
          <a:noFill/>
          <a:ln>
            <a:noFill/>
          </a:ln>
        </p:spPr>
      </p:pic>
      <p:cxnSp>
        <p:nvCxnSpPr>
          <p:cNvPr id="66" name="Google Shape;66;p14"/>
          <p:cNvCxnSpPr/>
          <p:nvPr/>
        </p:nvCxnSpPr>
        <p:spPr>
          <a:xfrm flipH="1" rot="10800000">
            <a:off x="5568275" y="4479300"/>
            <a:ext cx="1498200" cy="618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62"/>
                                        </p:tgtEl>
                                      </p:cBhvr>
                                    </p:animEffect>
                                    <p:set>
                                      <p:cBhvr>
                                        <p:cTn dur="1" fill="hold">
                                          <p:stCondLst>
                                            <p:cond delay="1000"/>
                                          </p:stCondLst>
                                        </p:cTn>
                                        <p:tgtEl>
                                          <p:spTgt spid="6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204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7B392"/>
                </a:solidFill>
              </a:rPr>
              <a:t>Player Movement</a:t>
            </a:r>
            <a:endParaRPr>
              <a:solidFill>
                <a:srgbClr val="D7B392"/>
              </a:solidFill>
            </a:endParaRPr>
          </a:p>
        </p:txBody>
      </p:sp>
      <p:sp>
        <p:nvSpPr>
          <p:cNvPr id="72" name="Google Shape;72;p15"/>
          <p:cNvSpPr txBox="1"/>
          <p:nvPr>
            <p:ph idx="1" type="body"/>
          </p:nvPr>
        </p:nvSpPr>
        <p:spPr>
          <a:xfrm>
            <a:off x="132975" y="810600"/>
            <a:ext cx="6308100" cy="4146300"/>
          </a:xfrm>
          <a:prstGeom prst="rect">
            <a:avLst/>
          </a:prstGeom>
        </p:spPr>
        <p:txBody>
          <a:bodyPr anchorCtr="0" anchor="t" bIns="91425" lIns="91425" spcFirstLastPara="1" rIns="91425" wrap="square" tIns="91425">
            <a:normAutofit/>
          </a:bodyPr>
          <a:lstStyle/>
          <a:p>
            <a:pPr indent="-330200" lvl="0" marL="457200" rtl="0" algn="l">
              <a:lnSpc>
                <a:spcPct val="115000"/>
              </a:lnSpc>
              <a:spcBef>
                <a:spcPts val="0"/>
              </a:spcBef>
              <a:spcAft>
                <a:spcPts val="0"/>
              </a:spcAft>
              <a:buClr>
                <a:srgbClr val="D7B392"/>
              </a:buClr>
              <a:buSzPts val="1600"/>
              <a:buChar char="●"/>
            </a:pPr>
            <a:r>
              <a:rPr lang="en" sz="1600">
                <a:solidFill>
                  <a:srgbClr val="D7B392"/>
                </a:solidFill>
              </a:rPr>
              <a:t>Player has a few different options to </a:t>
            </a:r>
            <a:r>
              <a:rPr lang="en" sz="1600">
                <a:solidFill>
                  <a:srgbClr val="D7B392"/>
                </a:solidFill>
              </a:rPr>
              <a:t>traverse</a:t>
            </a:r>
            <a:r>
              <a:rPr lang="en" sz="1600">
                <a:solidFill>
                  <a:srgbClr val="D7B392"/>
                </a:solidFill>
              </a:rPr>
              <a:t> the level, all implemented using the enhanced input system in C++:</a:t>
            </a:r>
            <a:endParaRPr sz="1600">
              <a:solidFill>
                <a:srgbClr val="D7B392"/>
              </a:solidFill>
            </a:endParaRPr>
          </a:p>
          <a:p>
            <a:pPr indent="-330200" lvl="0" marL="457200" rtl="0" algn="l">
              <a:lnSpc>
                <a:spcPct val="115000"/>
              </a:lnSpc>
              <a:spcBef>
                <a:spcPts val="1000"/>
              </a:spcBef>
              <a:spcAft>
                <a:spcPts val="0"/>
              </a:spcAft>
              <a:buClr>
                <a:srgbClr val="D7B392"/>
              </a:buClr>
              <a:buSzPts val="1600"/>
              <a:buChar char="●"/>
            </a:pPr>
            <a:r>
              <a:rPr lang="en" sz="1600">
                <a:solidFill>
                  <a:srgbClr val="D7B392"/>
                </a:solidFill>
              </a:rPr>
              <a:t>2D side scroller left and right movement</a:t>
            </a:r>
            <a:endParaRPr sz="1600">
              <a:solidFill>
                <a:srgbClr val="D7B392"/>
              </a:solidFill>
            </a:endParaRPr>
          </a:p>
          <a:p>
            <a:pPr indent="-330200" lvl="0" marL="457200" rtl="0" algn="l">
              <a:lnSpc>
                <a:spcPct val="115000"/>
              </a:lnSpc>
              <a:spcBef>
                <a:spcPts val="1000"/>
              </a:spcBef>
              <a:spcAft>
                <a:spcPts val="0"/>
              </a:spcAft>
              <a:buClr>
                <a:srgbClr val="D7B392"/>
              </a:buClr>
              <a:buSzPts val="1600"/>
              <a:buChar char="●"/>
            </a:pPr>
            <a:r>
              <a:rPr lang="en" sz="1600">
                <a:solidFill>
                  <a:srgbClr val="D7B392"/>
                </a:solidFill>
              </a:rPr>
              <a:t>A double jump</a:t>
            </a:r>
            <a:endParaRPr sz="1600">
              <a:solidFill>
                <a:srgbClr val="D7B392"/>
              </a:solidFill>
            </a:endParaRPr>
          </a:p>
          <a:p>
            <a:pPr indent="-330200" lvl="0" marL="457200" rtl="0" algn="l">
              <a:lnSpc>
                <a:spcPct val="115000"/>
              </a:lnSpc>
              <a:spcBef>
                <a:spcPts val="1000"/>
              </a:spcBef>
              <a:spcAft>
                <a:spcPts val="0"/>
              </a:spcAft>
              <a:buClr>
                <a:srgbClr val="D7B392"/>
              </a:buClr>
              <a:buSzPts val="1600"/>
              <a:buChar char="●"/>
            </a:pPr>
            <a:r>
              <a:rPr lang="en" sz="1600">
                <a:solidFill>
                  <a:srgbClr val="D7B392"/>
                </a:solidFill>
              </a:rPr>
              <a:t>Player is able to dash forward on the ground and in the air. This reduces the height of the player hitbox and can also be done in mid air, which feels smooth and player gravity is set to 0 only during the dash, so the player does not drop down.</a:t>
            </a:r>
            <a:endParaRPr sz="1600">
              <a:solidFill>
                <a:srgbClr val="D7B392"/>
              </a:solidFill>
            </a:endParaRPr>
          </a:p>
          <a:p>
            <a:pPr indent="-330200" lvl="0" marL="457200" rtl="0" algn="l">
              <a:lnSpc>
                <a:spcPct val="115000"/>
              </a:lnSpc>
              <a:spcBef>
                <a:spcPts val="1000"/>
              </a:spcBef>
              <a:spcAft>
                <a:spcPts val="0"/>
              </a:spcAft>
              <a:buClr>
                <a:srgbClr val="D7B392"/>
              </a:buClr>
              <a:buSzPts val="1600"/>
              <a:buChar char="●"/>
            </a:pPr>
            <a:r>
              <a:rPr lang="en" sz="1600">
                <a:solidFill>
                  <a:srgbClr val="D7B392"/>
                </a:solidFill>
              </a:rPr>
              <a:t>Crouching to reduce visibility and hitbox size</a:t>
            </a:r>
            <a:endParaRPr sz="1600">
              <a:solidFill>
                <a:srgbClr val="D7B392"/>
              </a:solidFill>
            </a:endParaRPr>
          </a:p>
          <a:p>
            <a:pPr indent="-330200" lvl="0" marL="457200" rtl="0" algn="l">
              <a:lnSpc>
                <a:spcPct val="115000"/>
              </a:lnSpc>
              <a:spcBef>
                <a:spcPts val="1000"/>
              </a:spcBef>
              <a:spcAft>
                <a:spcPts val="1000"/>
              </a:spcAft>
              <a:buClr>
                <a:srgbClr val="D7B392"/>
              </a:buClr>
              <a:buSzPts val="1600"/>
              <a:buChar char="●"/>
            </a:pPr>
            <a:r>
              <a:rPr lang="en" sz="1600">
                <a:solidFill>
                  <a:srgbClr val="D7B392"/>
                </a:solidFill>
              </a:rPr>
              <a:t>Player is able to wall jump. If the player hits a wall in the air, they will cling to the wall and </a:t>
            </a:r>
            <a:r>
              <a:rPr lang="en" sz="1600">
                <a:solidFill>
                  <a:srgbClr val="D7B392"/>
                </a:solidFill>
              </a:rPr>
              <a:t>their</a:t>
            </a:r>
            <a:r>
              <a:rPr lang="en" sz="1600">
                <a:solidFill>
                  <a:srgbClr val="D7B392"/>
                </a:solidFill>
              </a:rPr>
              <a:t> velocity will be reduced. They can then decide where they want to jump to next</a:t>
            </a:r>
            <a:endParaRPr sz="1600">
              <a:solidFill>
                <a:srgbClr val="D7B392"/>
              </a:solidFill>
            </a:endParaRPr>
          </a:p>
        </p:txBody>
      </p:sp>
      <p:pic>
        <p:nvPicPr>
          <p:cNvPr id="73" name="Google Shape;73;p15"/>
          <p:cNvPicPr preferRelativeResize="0"/>
          <p:nvPr/>
        </p:nvPicPr>
        <p:blipFill>
          <a:blip r:embed="rId3">
            <a:alphaModFix/>
          </a:blip>
          <a:stretch>
            <a:fillRect/>
          </a:stretch>
        </p:blipFill>
        <p:spPr>
          <a:xfrm>
            <a:off x="6281975" y="794813"/>
            <a:ext cx="2720709" cy="1316075"/>
          </a:xfrm>
          <a:prstGeom prst="rect">
            <a:avLst/>
          </a:prstGeom>
          <a:noFill/>
          <a:ln cap="flat" cmpd="sng" w="19050">
            <a:solidFill>
              <a:schemeClr val="dk2"/>
            </a:solidFill>
            <a:prstDash val="solid"/>
            <a:round/>
            <a:headEnd len="sm" w="sm" type="none"/>
            <a:tailEnd len="sm" w="sm" type="none"/>
          </a:ln>
        </p:spPr>
      </p:pic>
      <p:sp>
        <p:nvSpPr>
          <p:cNvPr id="74" name="Google Shape;74;p15"/>
          <p:cNvSpPr txBox="1"/>
          <p:nvPr/>
        </p:nvSpPr>
        <p:spPr>
          <a:xfrm>
            <a:off x="6842675" y="2128825"/>
            <a:ext cx="2160000" cy="225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Player mid dash</a:t>
            </a:r>
            <a:endParaRPr sz="1200">
              <a:solidFill>
                <a:schemeClr val="dk2"/>
              </a:solidFill>
            </a:endParaRPr>
          </a:p>
        </p:txBody>
      </p:sp>
      <p:pic>
        <p:nvPicPr>
          <p:cNvPr id="75" name="Google Shape;75;p15"/>
          <p:cNvPicPr preferRelativeResize="0"/>
          <p:nvPr/>
        </p:nvPicPr>
        <p:blipFill>
          <a:blip r:embed="rId4">
            <a:alphaModFix/>
          </a:blip>
          <a:stretch>
            <a:fillRect/>
          </a:stretch>
        </p:blipFill>
        <p:spPr>
          <a:xfrm>
            <a:off x="6728588" y="2804775"/>
            <a:ext cx="1937575" cy="1533925"/>
          </a:xfrm>
          <a:prstGeom prst="rect">
            <a:avLst/>
          </a:prstGeom>
          <a:noFill/>
          <a:ln cap="flat" cmpd="sng" w="19050">
            <a:solidFill>
              <a:schemeClr val="dk2"/>
            </a:solidFill>
            <a:prstDash val="solid"/>
            <a:round/>
            <a:headEnd len="sm" w="sm" type="none"/>
            <a:tailEnd len="sm" w="sm" type="none"/>
          </a:ln>
        </p:spPr>
      </p:pic>
      <p:sp>
        <p:nvSpPr>
          <p:cNvPr id="76" name="Google Shape;76;p15"/>
          <p:cNvSpPr txBox="1"/>
          <p:nvPr/>
        </p:nvSpPr>
        <p:spPr>
          <a:xfrm>
            <a:off x="6897100" y="4296650"/>
            <a:ext cx="1771500" cy="27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2"/>
                </a:solidFill>
              </a:rPr>
              <a:t>Player clinging to wall</a:t>
            </a:r>
            <a:endParaRPr sz="12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6"/>
          <p:cNvSpPr txBox="1"/>
          <p:nvPr>
            <p:ph type="title"/>
          </p:nvPr>
        </p:nvSpPr>
        <p:spPr>
          <a:xfrm>
            <a:off x="311700" y="2274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7B392"/>
                </a:solidFill>
              </a:rPr>
              <a:t>Shooting and Enemies</a:t>
            </a:r>
            <a:endParaRPr>
              <a:solidFill>
                <a:srgbClr val="D7B392"/>
              </a:solidFill>
            </a:endParaRPr>
          </a:p>
        </p:txBody>
      </p:sp>
      <p:sp>
        <p:nvSpPr>
          <p:cNvPr id="82" name="Google Shape;82;p16"/>
          <p:cNvSpPr txBox="1"/>
          <p:nvPr>
            <p:ph idx="1" type="body"/>
          </p:nvPr>
        </p:nvSpPr>
        <p:spPr>
          <a:xfrm>
            <a:off x="234850" y="697150"/>
            <a:ext cx="4246500" cy="43044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1000"/>
              </a:spcBef>
              <a:spcAft>
                <a:spcPts val="0"/>
              </a:spcAft>
              <a:buClr>
                <a:srgbClr val="D7B392"/>
              </a:buClr>
              <a:buSzPts val="1400"/>
              <a:buChar char="●"/>
            </a:pPr>
            <a:r>
              <a:rPr lang="en" sz="1400">
                <a:solidFill>
                  <a:srgbClr val="D7B392"/>
                </a:solidFill>
              </a:rPr>
              <a:t>Players have the ability to shoot projectiles to defend themselves from enemies.</a:t>
            </a:r>
            <a:endParaRPr sz="1400">
              <a:solidFill>
                <a:srgbClr val="D7B392"/>
              </a:solidFill>
            </a:endParaRPr>
          </a:p>
          <a:p>
            <a:pPr indent="-317500" lvl="0" marL="457200" rtl="0" algn="l">
              <a:lnSpc>
                <a:spcPct val="115000"/>
              </a:lnSpc>
              <a:spcBef>
                <a:spcPts val="1200"/>
              </a:spcBef>
              <a:spcAft>
                <a:spcPts val="0"/>
              </a:spcAft>
              <a:buClr>
                <a:srgbClr val="D7B392"/>
              </a:buClr>
              <a:buSzPts val="1400"/>
              <a:buChar char="●"/>
            </a:pPr>
            <a:r>
              <a:rPr lang="en" sz="1400">
                <a:solidFill>
                  <a:srgbClr val="D7B392"/>
                </a:solidFill>
              </a:rPr>
              <a:t>These projectiles are stored in an object pool, where rather than </a:t>
            </a:r>
            <a:r>
              <a:rPr lang="en" sz="1400">
                <a:solidFill>
                  <a:srgbClr val="D7B392"/>
                </a:solidFill>
              </a:rPr>
              <a:t>allocating</a:t>
            </a:r>
            <a:r>
              <a:rPr lang="en" sz="1400">
                <a:solidFill>
                  <a:srgbClr val="D7B392"/>
                </a:solidFill>
              </a:rPr>
              <a:t> and deallocating memory by creating and </a:t>
            </a:r>
            <a:r>
              <a:rPr lang="en" sz="1400">
                <a:solidFill>
                  <a:srgbClr val="D7B392"/>
                </a:solidFill>
              </a:rPr>
              <a:t>destroying</a:t>
            </a:r>
            <a:r>
              <a:rPr lang="en" sz="1400">
                <a:solidFill>
                  <a:srgbClr val="D7B392"/>
                </a:solidFill>
              </a:rPr>
              <a:t> bullets, they are all created on the game start, are just moved out of and back into the object pool when needed.</a:t>
            </a:r>
            <a:endParaRPr sz="1400">
              <a:solidFill>
                <a:srgbClr val="D7B392"/>
              </a:solidFill>
            </a:endParaRPr>
          </a:p>
          <a:p>
            <a:pPr indent="-317500" lvl="0" marL="457200" rtl="0" algn="l">
              <a:lnSpc>
                <a:spcPct val="115000"/>
              </a:lnSpc>
              <a:spcBef>
                <a:spcPts val="1000"/>
              </a:spcBef>
              <a:spcAft>
                <a:spcPts val="0"/>
              </a:spcAft>
              <a:buClr>
                <a:srgbClr val="D7B392"/>
              </a:buClr>
              <a:buSzPts val="1400"/>
              <a:buChar char="●"/>
            </a:pPr>
            <a:r>
              <a:rPr lang="en" sz="1400">
                <a:solidFill>
                  <a:srgbClr val="D7B392"/>
                </a:solidFill>
              </a:rPr>
              <a:t>Players have three different firing modes, Rifle, Machine Gun and Shotgun, all having varying bullet damages.</a:t>
            </a:r>
            <a:endParaRPr sz="1400">
              <a:solidFill>
                <a:srgbClr val="D7B392"/>
              </a:solidFill>
            </a:endParaRPr>
          </a:p>
          <a:p>
            <a:pPr indent="-317500" lvl="0" marL="457200" rtl="0" algn="l">
              <a:lnSpc>
                <a:spcPct val="115000"/>
              </a:lnSpc>
              <a:spcBef>
                <a:spcPts val="1000"/>
              </a:spcBef>
              <a:spcAft>
                <a:spcPts val="1200"/>
              </a:spcAft>
              <a:buClr>
                <a:srgbClr val="D7B392"/>
              </a:buClr>
              <a:buSzPts val="1400"/>
              <a:buChar char="●"/>
            </a:pPr>
            <a:r>
              <a:rPr lang="en" sz="1400">
                <a:solidFill>
                  <a:srgbClr val="D7B392"/>
                </a:solidFill>
              </a:rPr>
              <a:t>Levels include enemies made with a behaviour tree, they will run at the player to attack them and have varying detection ranges based on if they can see the player and if the player is crouched</a:t>
            </a:r>
            <a:endParaRPr sz="1400">
              <a:solidFill>
                <a:srgbClr val="D7B392"/>
              </a:solidFill>
            </a:endParaRPr>
          </a:p>
        </p:txBody>
      </p:sp>
      <p:pic>
        <p:nvPicPr>
          <p:cNvPr id="83" name="Google Shape;83;p16"/>
          <p:cNvPicPr preferRelativeResize="0"/>
          <p:nvPr/>
        </p:nvPicPr>
        <p:blipFill>
          <a:blip r:embed="rId3">
            <a:alphaModFix/>
          </a:blip>
          <a:stretch>
            <a:fillRect/>
          </a:stretch>
        </p:blipFill>
        <p:spPr>
          <a:xfrm>
            <a:off x="6780000" y="548575"/>
            <a:ext cx="1567634" cy="1150350"/>
          </a:xfrm>
          <a:prstGeom prst="rect">
            <a:avLst/>
          </a:prstGeom>
          <a:noFill/>
          <a:ln cap="flat" cmpd="sng" w="19050">
            <a:solidFill>
              <a:schemeClr val="dk2"/>
            </a:solidFill>
            <a:prstDash val="solid"/>
            <a:round/>
            <a:headEnd len="sm" w="sm" type="none"/>
            <a:tailEnd len="sm" w="sm" type="none"/>
          </a:ln>
        </p:spPr>
      </p:pic>
      <p:sp>
        <p:nvSpPr>
          <p:cNvPr id="84" name="Google Shape;84;p16"/>
          <p:cNvSpPr txBox="1"/>
          <p:nvPr/>
        </p:nvSpPr>
        <p:spPr>
          <a:xfrm>
            <a:off x="6681875" y="1644425"/>
            <a:ext cx="1926900" cy="17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D7B392"/>
                </a:solidFill>
              </a:rPr>
              <a:t>Player firing projectile</a:t>
            </a:r>
            <a:endParaRPr i="1" sz="1200">
              <a:solidFill>
                <a:srgbClr val="D7B392"/>
              </a:solidFill>
            </a:endParaRPr>
          </a:p>
        </p:txBody>
      </p:sp>
      <p:pic>
        <p:nvPicPr>
          <p:cNvPr id="85" name="Google Shape;85;p16"/>
          <p:cNvPicPr preferRelativeResize="0"/>
          <p:nvPr/>
        </p:nvPicPr>
        <p:blipFill>
          <a:blip r:embed="rId4">
            <a:alphaModFix/>
          </a:blip>
          <a:stretch>
            <a:fillRect/>
          </a:stretch>
        </p:blipFill>
        <p:spPr>
          <a:xfrm>
            <a:off x="7078150" y="2288150"/>
            <a:ext cx="1243375" cy="1472725"/>
          </a:xfrm>
          <a:prstGeom prst="rect">
            <a:avLst/>
          </a:prstGeom>
          <a:noFill/>
          <a:ln cap="flat" cmpd="sng" w="19050">
            <a:solidFill>
              <a:schemeClr val="dk2"/>
            </a:solidFill>
            <a:prstDash val="solid"/>
            <a:round/>
            <a:headEnd len="sm" w="sm" type="none"/>
            <a:tailEnd len="sm" w="sm" type="none"/>
          </a:ln>
        </p:spPr>
      </p:pic>
      <p:sp>
        <p:nvSpPr>
          <p:cNvPr id="86" name="Google Shape;86;p16"/>
          <p:cNvSpPr txBox="1"/>
          <p:nvPr/>
        </p:nvSpPr>
        <p:spPr>
          <a:xfrm>
            <a:off x="6905400" y="3760500"/>
            <a:ext cx="1926900" cy="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200">
                <a:solidFill>
                  <a:srgbClr val="D7B392"/>
                </a:solidFill>
              </a:rPr>
              <a:t>Player being attacked by an enemy</a:t>
            </a:r>
            <a:endParaRPr i="1" sz="1200">
              <a:solidFill>
                <a:srgbClr val="D7B39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7B392"/>
                </a:solidFill>
              </a:rPr>
              <a:t>Interactables: Health, Score, Hazards, Checkpoints</a:t>
            </a:r>
            <a:endParaRPr>
              <a:solidFill>
                <a:srgbClr val="D7B392"/>
              </a:solidFill>
            </a:endParaRPr>
          </a:p>
        </p:txBody>
      </p:sp>
      <p:sp>
        <p:nvSpPr>
          <p:cNvPr id="92" name="Google Shape;92;p17"/>
          <p:cNvSpPr txBox="1"/>
          <p:nvPr>
            <p:ph idx="1" type="body"/>
          </p:nvPr>
        </p:nvSpPr>
        <p:spPr>
          <a:xfrm>
            <a:off x="311700" y="1152475"/>
            <a:ext cx="3864900" cy="3416400"/>
          </a:xfrm>
          <a:prstGeom prst="rect">
            <a:avLst/>
          </a:prstGeom>
        </p:spPr>
        <p:txBody>
          <a:bodyPr anchorCtr="0" anchor="t" bIns="91425" lIns="91425" spcFirstLastPara="1" rIns="91425" wrap="square" tIns="91425">
            <a:normAutofit fontScale="70000" lnSpcReduction="20000"/>
          </a:bodyPr>
          <a:lstStyle/>
          <a:p>
            <a:pPr indent="-308610" lvl="0" marL="457200" rtl="0" algn="l">
              <a:spcBef>
                <a:spcPts val="0"/>
              </a:spcBef>
              <a:spcAft>
                <a:spcPts val="0"/>
              </a:spcAft>
              <a:buClr>
                <a:srgbClr val="D7B392"/>
              </a:buClr>
              <a:buSzPct val="100000"/>
              <a:buChar char="●"/>
            </a:pPr>
            <a:r>
              <a:rPr lang="en">
                <a:solidFill>
                  <a:srgbClr val="D7B392"/>
                </a:solidFill>
              </a:rPr>
              <a:t>Players can collect items throughout the level which will either increase their score or provide them with additional health </a:t>
            </a:r>
            <a:r>
              <a:rPr lang="en">
                <a:solidFill>
                  <a:srgbClr val="D7B392"/>
                </a:solidFill>
              </a:rPr>
              <a:t>in between</a:t>
            </a:r>
            <a:r>
              <a:rPr lang="en">
                <a:solidFill>
                  <a:srgbClr val="D7B392"/>
                </a:solidFill>
              </a:rPr>
              <a:t> checkpoints</a:t>
            </a:r>
            <a:endParaRPr>
              <a:solidFill>
                <a:srgbClr val="D7B392"/>
              </a:solidFill>
            </a:endParaRPr>
          </a:p>
          <a:p>
            <a:pPr indent="-308610" lvl="0" marL="457200" rtl="0" algn="l">
              <a:spcBef>
                <a:spcPts val="0"/>
              </a:spcBef>
              <a:spcAft>
                <a:spcPts val="0"/>
              </a:spcAft>
              <a:buClr>
                <a:srgbClr val="D7B392"/>
              </a:buClr>
              <a:buSzPct val="100000"/>
              <a:buChar char="●"/>
            </a:pPr>
            <a:r>
              <a:rPr lang="en">
                <a:solidFill>
                  <a:srgbClr val="D7B392"/>
                </a:solidFill>
              </a:rPr>
              <a:t>Using OnOverlapBegin functions, when an instance of the main character overlaps with one of the collectables, it will hide it in the scene so that the player can no longer interact with it</a:t>
            </a:r>
            <a:endParaRPr>
              <a:solidFill>
                <a:srgbClr val="D7B392"/>
              </a:solidFill>
            </a:endParaRPr>
          </a:p>
          <a:p>
            <a:pPr indent="-308610" lvl="0" marL="457200" rtl="0" algn="l">
              <a:spcBef>
                <a:spcPts val="0"/>
              </a:spcBef>
              <a:spcAft>
                <a:spcPts val="0"/>
              </a:spcAft>
              <a:buClr>
                <a:srgbClr val="D7B392"/>
              </a:buClr>
              <a:buSzPct val="100000"/>
              <a:buChar char="●"/>
            </a:pPr>
            <a:r>
              <a:rPr lang="en">
                <a:solidFill>
                  <a:srgbClr val="D7B392"/>
                </a:solidFill>
              </a:rPr>
              <a:t>For the hazards, these use the OnHit function to determine if a collision happens between an instance of the main character and the hazard actor, reducing player health. The reduction in health has been set so that this does not occur </a:t>
            </a:r>
            <a:r>
              <a:rPr lang="en">
                <a:solidFill>
                  <a:srgbClr val="D7B392"/>
                </a:solidFill>
              </a:rPr>
              <a:t>continuously</a:t>
            </a:r>
            <a:r>
              <a:rPr lang="en">
                <a:solidFill>
                  <a:srgbClr val="D7B392"/>
                </a:solidFill>
              </a:rPr>
              <a:t> when the collision happens and that there is a delay in the damage being sustained</a:t>
            </a:r>
            <a:endParaRPr>
              <a:solidFill>
                <a:srgbClr val="D7B392"/>
              </a:solidFill>
            </a:endParaRPr>
          </a:p>
        </p:txBody>
      </p:sp>
      <p:pic>
        <p:nvPicPr>
          <p:cNvPr id="93" name="Google Shape;93;p17"/>
          <p:cNvPicPr preferRelativeResize="0"/>
          <p:nvPr/>
        </p:nvPicPr>
        <p:blipFill rotWithShape="1">
          <a:blip r:embed="rId3">
            <a:alphaModFix/>
          </a:blip>
          <a:srcRect b="41504" l="19444" r="26345" t="39514"/>
          <a:stretch/>
        </p:blipFill>
        <p:spPr>
          <a:xfrm>
            <a:off x="5035400" y="1397851"/>
            <a:ext cx="2996501" cy="572701"/>
          </a:xfrm>
          <a:prstGeom prst="rect">
            <a:avLst/>
          </a:prstGeom>
          <a:noFill/>
          <a:ln>
            <a:noFill/>
          </a:ln>
        </p:spPr>
      </p:pic>
      <p:sp>
        <p:nvSpPr>
          <p:cNvPr id="94" name="Google Shape;94;p17"/>
          <p:cNvSpPr txBox="1"/>
          <p:nvPr/>
        </p:nvSpPr>
        <p:spPr>
          <a:xfrm>
            <a:off x="5035400" y="2054250"/>
            <a:ext cx="1869000" cy="51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F9CB9C"/>
                </a:solidFill>
              </a:rPr>
              <a:t>A screenshot of the score collectables</a:t>
            </a:r>
            <a:endParaRPr sz="1200">
              <a:solidFill>
                <a:srgbClr val="F9CB9C"/>
              </a:solidFill>
            </a:endParaRPr>
          </a:p>
        </p:txBody>
      </p:sp>
      <p:pic>
        <p:nvPicPr>
          <p:cNvPr id="95" name="Google Shape;95;p17"/>
          <p:cNvPicPr preferRelativeResize="0"/>
          <p:nvPr/>
        </p:nvPicPr>
        <p:blipFill rotWithShape="1">
          <a:blip r:embed="rId4">
            <a:alphaModFix/>
          </a:blip>
          <a:srcRect b="32115" l="34486" r="40037" t="30410"/>
          <a:stretch/>
        </p:blipFill>
        <p:spPr>
          <a:xfrm>
            <a:off x="5035400" y="2733925"/>
            <a:ext cx="1058026" cy="849525"/>
          </a:xfrm>
          <a:prstGeom prst="rect">
            <a:avLst/>
          </a:prstGeom>
          <a:noFill/>
          <a:ln>
            <a:noFill/>
          </a:ln>
        </p:spPr>
      </p:pic>
      <p:pic>
        <p:nvPicPr>
          <p:cNvPr id="96" name="Google Shape;96;p17"/>
          <p:cNvPicPr preferRelativeResize="0"/>
          <p:nvPr/>
        </p:nvPicPr>
        <p:blipFill rotWithShape="1">
          <a:blip r:embed="rId5">
            <a:alphaModFix/>
          </a:blip>
          <a:srcRect b="25777" l="36616" r="24869" t="28887"/>
          <a:stretch/>
        </p:blipFill>
        <p:spPr>
          <a:xfrm>
            <a:off x="6263325" y="2733925"/>
            <a:ext cx="2695325" cy="1731849"/>
          </a:xfrm>
          <a:prstGeom prst="rect">
            <a:avLst/>
          </a:prstGeom>
          <a:noFill/>
          <a:ln>
            <a:noFill/>
          </a:ln>
        </p:spPr>
      </p:pic>
      <p:sp>
        <p:nvSpPr>
          <p:cNvPr id="97" name="Google Shape;97;p17"/>
          <p:cNvSpPr txBox="1"/>
          <p:nvPr/>
        </p:nvSpPr>
        <p:spPr>
          <a:xfrm>
            <a:off x="4911800" y="3915550"/>
            <a:ext cx="1181700" cy="6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D7B392"/>
                </a:solidFill>
              </a:rPr>
              <a:t>Screenshot of a checkpoint actor (key)</a:t>
            </a:r>
            <a:endParaRPr sz="1000">
              <a:solidFill>
                <a:srgbClr val="D7B39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7B392"/>
                </a:solidFill>
              </a:rPr>
              <a:t>Saving, Loading and UI</a:t>
            </a:r>
            <a:endParaRPr>
              <a:solidFill>
                <a:srgbClr val="D7B392"/>
              </a:solidFill>
            </a:endParaRPr>
          </a:p>
        </p:txBody>
      </p:sp>
      <p:sp>
        <p:nvSpPr>
          <p:cNvPr id="103" name="Google Shape;103;p18"/>
          <p:cNvSpPr txBox="1"/>
          <p:nvPr>
            <p:ph idx="1" type="body"/>
          </p:nvPr>
        </p:nvSpPr>
        <p:spPr>
          <a:xfrm>
            <a:off x="311700" y="1152475"/>
            <a:ext cx="4134300" cy="3416400"/>
          </a:xfrm>
          <a:prstGeom prst="rect">
            <a:avLst/>
          </a:prstGeom>
        </p:spPr>
        <p:txBody>
          <a:bodyPr anchorCtr="0" anchor="t" bIns="91425" lIns="91425" spcFirstLastPara="1" rIns="91425" wrap="square" tIns="91425">
            <a:normAutofit fontScale="62500" lnSpcReduction="10000"/>
          </a:bodyPr>
          <a:lstStyle/>
          <a:p>
            <a:pPr indent="-300037" lvl="0" marL="457200" rtl="0" algn="l">
              <a:spcBef>
                <a:spcPts val="0"/>
              </a:spcBef>
              <a:spcAft>
                <a:spcPts val="0"/>
              </a:spcAft>
              <a:buClr>
                <a:srgbClr val="D7B392"/>
              </a:buClr>
              <a:buSzPct val="100000"/>
              <a:buChar char="●"/>
            </a:pPr>
            <a:r>
              <a:rPr lang="en">
                <a:solidFill>
                  <a:srgbClr val="D7B392"/>
                </a:solidFill>
              </a:rPr>
              <a:t>Saving and loading uses the SaveLoad class to iterate through the actors in the scene that need to be saved (collectables, players, hazards and enemies) through separate for loops and are saved to a game slot. Loading the game loads from this slot, using a predetermined name and user slot to locate the data</a:t>
            </a:r>
            <a:endParaRPr>
              <a:solidFill>
                <a:srgbClr val="D7B392"/>
              </a:solidFill>
            </a:endParaRPr>
          </a:p>
          <a:p>
            <a:pPr indent="-300037" lvl="0" marL="457200" rtl="0" algn="l">
              <a:spcBef>
                <a:spcPts val="0"/>
              </a:spcBef>
              <a:spcAft>
                <a:spcPts val="0"/>
              </a:spcAft>
              <a:buClr>
                <a:srgbClr val="D7B392"/>
              </a:buClr>
              <a:buSzPct val="100000"/>
              <a:buChar char="●"/>
            </a:pPr>
            <a:r>
              <a:rPr lang="en">
                <a:solidFill>
                  <a:srgbClr val="D7B392"/>
                </a:solidFill>
              </a:rPr>
              <a:t>The UI uses a combination of C++ and blueprints to call the custom save and load functions. We did this as the data did not seem to locate when a button was bound to the UI during gameplay, but worked without issue when the binding occurred during blueprints</a:t>
            </a:r>
            <a:endParaRPr>
              <a:solidFill>
                <a:srgbClr val="D7B392"/>
              </a:solidFill>
            </a:endParaRPr>
          </a:p>
          <a:p>
            <a:pPr indent="-300037" lvl="0" marL="457200" rtl="0" algn="l">
              <a:spcBef>
                <a:spcPts val="0"/>
              </a:spcBef>
              <a:spcAft>
                <a:spcPts val="0"/>
              </a:spcAft>
              <a:buClr>
                <a:srgbClr val="D7B392"/>
              </a:buClr>
              <a:buSzPct val="100000"/>
              <a:buChar char="●"/>
            </a:pPr>
            <a:r>
              <a:rPr lang="en">
                <a:solidFill>
                  <a:srgbClr val="D7B392"/>
                </a:solidFill>
              </a:rPr>
              <a:t>During gameplay, a progress bar and textbox are bound via C++ script. The widget blueprint, used to set up the UI, is attached to the player in the inspector and updated based on the main character interacting with collectables (score updates score, hazards reduce </a:t>
            </a:r>
            <a:r>
              <a:rPr lang="en">
                <a:solidFill>
                  <a:srgbClr val="D7B392"/>
                </a:solidFill>
              </a:rPr>
              <a:t>health bar</a:t>
            </a:r>
            <a:r>
              <a:rPr lang="en">
                <a:solidFill>
                  <a:srgbClr val="D7B392"/>
                </a:solidFill>
              </a:rPr>
              <a:t>). Two individual widgets are setup so that both characters only affect their own UI</a:t>
            </a:r>
            <a:endParaRPr>
              <a:solidFill>
                <a:srgbClr val="D7B392"/>
              </a:solidFill>
            </a:endParaRPr>
          </a:p>
        </p:txBody>
      </p:sp>
      <p:pic>
        <p:nvPicPr>
          <p:cNvPr id="104" name="Google Shape;104;p18"/>
          <p:cNvPicPr preferRelativeResize="0"/>
          <p:nvPr/>
        </p:nvPicPr>
        <p:blipFill rotWithShape="1">
          <a:blip r:embed="rId3">
            <a:alphaModFix/>
          </a:blip>
          <a:srcRect b="6456" l="34826" r="16742" t="7802"/>
          <a:stretch/>
        </p:blipFill>
        <p:spPr>
          <a:xfrm>
            <a:off x="5201449" y="1297450"/>
            <a:ext cx="3093024" cy="2988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n" u="sng">
                <a:solidFill>
                  <a:srgbClr val="D7B392"/>
                </a:solidFill>
              </a:rPr>
              <a:t>Management, Testing, and Reflection</a:t>
            </a:r>
            <a:endParaRPr b="1" u="sng">
              <a:solidFill>
                <a:srgbClr val="D7B392"/>
              </a:solidFill>
            </a:endParaRPr>
          </a:p>
        </p:txBody>
      </p:sp>
      <p:sp>
        <p:nvSpPr>
          <p:cNvPr id="110" name="Google Shape;110;p19"/>
          <p:cNvSpPr txBox="1"/>
          <p:nvPr>
            <p:ph idx="1" type="body"/>
          </p:nvPr>
        </p:nvSpPr>
        <p:spPr>
          <a:xfrm>
            <a:off x="311700" y="1152475"/>
            <a:ext cx="3021600" cy="3416400"/>
          </a:xfrm>
          <a:prstGeom prst="rect">
            <a:avLst/>
          </a:prstGeom>
        </p:spPr>
        <p:txBody>
          <a:bodyPr anchorCtr="0" anchor="t" bIns="91425" lIns="91425" spcFirstLastPara="1" rIns="91425" wrap="square" tIns="91425">
            <a:normAutofit lnSpcReduction="10000"/>
          </a:bodyPr>
          <a:lstStyle/>
          <a:p>
            <a:pPr indent="0" lvl="0" marL="0" rtl="0" algn="ctr">
              <a:spcBef>
                <a:spcPts val="0"/>
              </a:spcBef>
              <a:spcAft>
                <a:spcPts val="0"/>
              </a:spcAft>
              <a:buNone/>
            </a:pPr>
            <a:r>
              <a:rPr lang="en">
                <a:solidFill>
                  <a:srgbClr val="D7B392"/>
                </a:solidFill>
              </a:rPr>
              <a:t>MANAGEMENT</a:t>
            </a:r>
            <a:endParaRPr>
              <a:solidFill>
                <a:srgbClr val="D7B392"/>
              </a:solidFill>
            </a:endParaRPr>
          </a:p>
          <a:p>
            <a:pPr indent="0" lvl="0" marL="0" rtl="0" algn="ctr">
              <a:spcBef>
                <a:spcPts val="1200"/>
              </a:spcBef>
              <a:spcAft>
                <a:spcPts val="0"/>
              </a:spcAft>
              <a:buNone/>
            </a:pPr>
            <a:r>
              <a:rPr lang="en" sz="1400">
                <a:solidFill>
                  <a:srgbClr val="D7B392"/>
                </a:solidFill>
              </a:rPr>
              <a:t>We used two methods of management.</a:t>
            </a:r>
            <a:endParaRPr sz="1400">
              <a:solidFill>
                <a:srgbClr val="D7B392"/>
              </a:solidFill>
            </a:endParaRPr>
          </a:p>
          <a:p>
            <a:pPr indent="0" lvl="0" marL="0" rtl="0" algn="ctr">
              <a:spcBef>
                <a:spcPts val="1200"/>
              </a:spcBef>
              <a:spcAft>
                <a:spcPts val="0"/>
              </a:spcAft>
              <a:buNone/>
            </a:pPr>
            <a:r>
              <a:rPr lang="en" sz="1400">
                <a:solidFill>
                  <a:srgbClr val="D7B392"/>
                </a:solidFill>
              </a:rPr>
              <a:t>First, we had individual roles chosen from the start.</a:t>
            </a:r>
            <a:endParaRPr sz="1400">
              <a:solidFill>
                <a:srgbClr val="D7B392"/>
              </a:solidFill>
            </a:endParaRPr>
          </a:p>
          <a:p>
            <a:pPr indent="0" lvl="0" marL="0" rtl="0" algn="ctr">
              <a:spcBef>
                <a:spcPts val="1200"/>
              </a:spcBef>
              <a:spcAft>
                <a:spcPts val="0"/>
              </a:spcAft>
              <a:buNone/>
            </a:pPr>
            <a:r>
              <a:rPr lang="en" sz="1400">
                <a:solidFill>
                  <a:srgbClr val="D7B392"/>
                </a:solidFill>
              </a:rPr>
              <a:t>Max: Management, Level Design, Testing</a:t>
            </a:r>
            <a:br>
              <a:rPr lang="en" sz="1400">
                <a:solidFill>
                  <a:srgbClr val="D7B392"/>
                </a:solidFill>
              </a:rPr>
            </a:br>
            <a:r>
              <a:rPr lang="en" sz="1400">
                <a:solidFill>
                  <a:srgbClr val="D7B392"/>
                </a:solidFill>
              </a:rPr>
              <a:t>Harvey: Player and Enemy</a:t>
            </a:r>
            <a:br>
              <a:rPr lang="en" sz="1400">
                <a:solidFill>
                  <a:srgbClr val="D7B392"/>
                </a:solidFill>
              </a:rPr>
            </a:br>
            <a:r>
              <a:rPr lang="en" sz="1400">
                <a:solidFill>
                  <a:srgbClr val="D7B392"/>
                </a:solidFill>
              </a:rPr>
              <a:t>Ian: UI, Interactables, and Saving</a:t>
            </a:r>
            <a:endParaRPr sz="1400">
              <a:solidFill>
                <a:srgbClr val="D7B392"/>
              </a:solidFill>
            </a:endParaRPr>
          </a:p>
          <a:p>
            <a:pPr indent="0" lvl="0" marL="0" rtl="0" algn="ctr">
              <a:spcBef>
                <a:spcPts val="1200"/>
              </a:spcBef>
              <a:spcAft>
                <a:spcPts val="1200"/>
              </a:spcAft>
              <a:buNone/>
            </a:pPr>
            <a:r>
              <a:rPr lang="en" sz="1400">
                <a:solidFill>
                  <a:srgbClr val="D7B392"/>
                </a:solidFill>
              </a:rPr>
              <a:t>To </a:t>
            </a:r>
            <a:r>
              <a:rPr lang="en" sz="1400">
                <a:solidFill>
                  <a:srgbClr val="D7B392"/>
                </a:solidFill>
              </a:rPr>
              <a:t>allocate tasks, we had a Trello Board, and meetings every Friday</a:t>
            </a:r>
            <a:endParaRPr sz="1400">
              <a:solidFill>
                <a:srgbClr val="D7B392"/>
              </a:solidFill>
            </a:endParaRPr>
          </a:p>
        </p:txBody>
      </p:sp>
      <p:sp>
        <p:nvSpPr>
          <p:cNvPr id="111" name="Google Shape;111;p19"/>
          <p:cNvSpPr txBox="1"/>
          <p:nvPr>
            <p:ph idx="1" type="body"/>
          </p:nvPr>
        </p:nvSpPr>
        <p:spPr>
          <a:xfrm>
            <a:off x="3333300" y="1152475"/>
            <a:ext cx="27891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D7B392"/>
                </a:solidFill>
              </a:rPr>
              <a:t>TESTING</a:t>
            </a:r>
            <a:endParaRPr>
              <a:solidFill>
                <a:srgbClr val="D7B392"/>
              </a:solidFill>
            </a:endParaRPr>
          </a:p>
          <a:p>
            <a:pPr indent="0" lvl="0" marL="0" rtl="0" algn="ctr">
              <a:spcBef>
                <a:spcPts val="1200"/>
              </a:spcBef>
              <a:spcAft>
                <a:spcPts val="0"/>
              </a:spcAft>
              <a:buNone/>
            </a:pPr>
            <a:r>
              <a:rPr lang="en" sz="1400">
                <a:solidFill>
                  <a:srgbClr val="D7B392"/>
                </a:solidFill>
              </a:rPr>
              <a:t>Once a component was ready to be integrated, it was passed to Testing.</a:t>
            </a:r>
            <a:endParaRPr sz="1400">
              <a:solidFill>
                <a:srgbClr val="D7B392"/>
              </a:solidFill>
            </a:endParaRPr>
          </a:p>
          <a:p>
            <a:pPr indent="0" lvl="0" marL="0" rtl="0" algn="ctr">
              <a:spcBef>
                <a:spcPts val="1200"/>
              </a:spcBef>
              <a:spcAft>
                <a:spcPts val="0"/>
              </a:spcAft>
              <a:buNone/>
            </a:pPr>
            <a:r>
              <a:t/>
            </a:r>
            <a:endParaRPr sz="1400">
              <a:solidFill>
                <a:srgbClr val="D7B392"/>
              </a:solidFill>
            </a:endParaRPr>
          </a:p>
          <a:p>
            <a:pPr indent="0" lvl="0" marL="0" rtl="0" algn="ctr">
              <a:spcBef>
                <a:spcPts val="1200"/>
              </a:spcBef>
              <a:spcAft>
                <a:spcPts val="1200"/>
              </a:spcAft>
              <a:buNone/>
            </a:pPr>
            <a:r>
              <a:rPr lang="en" sz="1400">
                <a:solidFill>
                  <a:srgbClr val="D7B392"/>
                </a:solidFill>
              </a:rPr>
              <a:t>We tested the integration, the performance difference, and aggressively tested edge cases.</a:t>
            </a:r>
            <a:endParaRPr sz="1400">
              <a:solidFill>
                <a:srgbClr val="D7B392"/>
              </a:solidFill>
            </a:endParaRPr>
          </a:p>
        </p:txBody>
      </p:sp>
      <p:sp>
        <p:nvSpPr>
          <p:cNvPr id="112" name="Google Shape;112;p19"/>
          <p:cNvSpPr txBox="1"/>
          <p:nvPr>
            <p:ph idx="1" type="body"/>
          </p:nvPr>
        </p:nvSpPr>
        <p:spPr>
          <a:xfrm>
            <a:off x="6122400" y="1152475"/>
            <a:ext cx="30216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D7B392"/>
                </a:solidFill>
              </a:rPr>
              <a:t>REFLECTION</a:t>
            </a:r>
            <a:endParaRPr>
              <a:solidFill>
                <a:srgbClr val="D7B392"/>
              </a:solidFill>
            </a:endParaRPr>
          </a:p>
          <a:p>
            <a:pPr indent="0" lvl="0" marL="0" rtl="0" algn="ctr">
              <a:spcBef>
                <a:spcPts val="1200"/>
              </a:spcBef>
              <a:spcAft>
                <a:spcPts val="0"/>
              </a:spcAft>
              <a:buNone/>
            </a:pPr>
            <a:r>
              <a:rPr lang="en" sz="1400">
                <a:solidFill>
                  <a:srgbClr val="D7B392"/>
                </a:solidFill>
              </a:rPr>
              <a:t>What went well?</a:t>
            </a:r>
            <a:endParaRPr sz="1400">
              <a:solidFill>
                <a:srgbClr val="D7B392"/>
              </a:solidFill>
            </a:endParaRPr>
          </a:p>
          <a:p>
            <a:pPr indent="0" lvl="0" marL="0" rtl="0" algn="ctr">
              <a:spcBef>
                <a:spcPts val="1200"/>
              </a:spcBef>
              <a:spcAft>
                <a:spcPts val="0"/>
              </a:spcAft>
              <a:buNone/>
            </a:pPr>
            <a:r>
              <a:t/>
            </a:r>
            <a:endParaRPr sz="1400">
              <a:solidFill>
                <a:srgbClr val="D7B392"/>
              </a:solidFill>
            </a:endParaRPr>
          </a:p>
          <a:p>
            <a:pPr indent="0" lvl="0" marL="0" rtl="0" algn="ctr">
              <a:spcBef>
                <a:spcPts val="1200"/>
              </a:spcBef>
              <a:spcAft>
                <a:spcPts val="0"/>
              </a:spcAft>
              <a:buNone/>
            </a:pPr>
            <a:r>
              <a:rPr lang="en" sz="1400">
                <a:solidFill>
                  <a:srgbClr val="D7B392"/>
                </a:solidFill>
              </a:rPr>
              <a:t>What went poorly?</a:t>
            </a:r>
            <a:endParaRPr sz="1400">
              <a:solidFill>
                <a:srgbClr val="D7B392"/>
              </a:solidFill>
            </a:endParaRPr>
          </a:p>
          <a:p>
            <a:pPr indent="0" lvl="0" marL="0" rtl="0" algn="ctr">
              <a:spcBef>
                <a:spcPts val="1200"/>
              </a:spcBef>
              <a:spcAft>
                <a:spcPts val="0"/>
              </a:spcAft>
              <a:buNone/>
            </a:pPr>
            <a:r>
              <a:t/>
            </a:r>
            <a:endParaRPr sz="1400">
              <a:solidFill>
                <a:srgbClr val="D7B392"/>
              </a:solidFill>
            </a:endParaRPr>
          </a:p>
          <a:p>
            <a:pPr indent="0" lvl="0" marL="0" rtl="0" algn="ctr">
              <a:spcBef>
                <a:spcPts val="1200"/>
              </a:spcBef>
              <a:spcAft>
                <a:spcPts val="1200"/>
              </a:spcAft>
              <a:buNone/>
            </a:pPr>
            <a:r>
              <a:rPr lang="en" sz="1400">
                <a:solidFill>
                  <a:srgbClr val="D7B392"/>
                </a:solidFill>
              </a:rPr>
              <a:t>How would we fix that?</a:t>
            </a:r>
            <a:endParaRPr sz="1400">
              <a:solidFill>
                <a:srgbClr val="D7B392"/>
              </a:solidFill>
            </a:endParaRPr>
          </a:p>
        </p:txBody>
      </p:sp>
      <p:pic>
        <p:nvPicPr>
          <p:cNvPr id="113" name="Google Shape;113;p19"/>
          <p:cNvPicPr preferRelativeResize="0"/>
          <p:nvPr/>
        </p:nvPicPr>
        <p:blipFill>
          <a:blip r:embed="rId3">
            <a:alphaModFix/>
          </a:blip>
          <a:stretch>
            <a:fillRect/>
          </a:stretch>
        </p:blipFill>
        <p:spPr>
          <a:xfrm>
            <a:off x="3421625" y="632825"/>
            <a:ext cx="3833700" cy="3877849"/>
          </a:xfrm>
          <a:prstGeom prst="rect">
            <a:avLst/>
          </a:prstGeom>
          <a:noFill/>
          <a:ln>
            <a:noFill/>
          </a:ln>
        </p:spPr>
      </p:pic>
      <p:pic>
        <p:nvPicPr>
          <p:cNvPr id="114" name="Google Shape;114;p19"/>
          <p:cNvPicPr preferRelativeResize="0"/>
          <p:nvPr/>
        </p:nvPicPr>
        <p:blipFill>
          <a:blip r:embed="rId4">
            <a:alphaModFix/>
          </a:blip>
          <a:stretch>
            <a:fillRect/>
          </a:stretch>
        </p:blipFill>
        <p:spPr>
          <a:xfrm>
            <a:off x="89425" y="1253650"/>
            <a:ext cx="8742876" cy="2297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4"/>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D7B392"/>
                </a:solidFill>
              </a:rPr>
              <a:t>References:</a:t>
            </a:r>
            <a:endParaRPr>
              <a:solidFill>
                <a:srgbClr val="D7B392"/>
              </a:solidFill>
            </a:endParaRPr>
          </a:p>
        </p:txBody>
      </p:sp>
      <p:sp>
        <p:nvSpPr>
          <p:cNvPr id="120" name="Google Shape;12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D7B392"/>
              </a:buClr>
              <a:buSzPts val="1800"/>
              <a:buChar char="●"/>
            </a:pPr>
            <a:r>
              <a:rPr lang="en">
                <a:solidFill>
                  <a:srgbClr val="D7B392"/>
                </a:solidFill>
              </a:rPr>
              <a:t>Hasshu, N. (30/09/2024) </a:t>
            </a:r>
            <a:r>
              <a:rPr i="1" lang="en">
                <a:solidFill>
                  <a:srgbClr val="D7B392"/>
                </a:solidFill>
              </a:rPr>
              <a:t>Advanced Game Engine Application</a:t>
            </a:r>
            <a:r>
              <a:rPr lang="en">
                <a:solidFill>
                  <a:srgbClr val="D7B392"/>
                </a:solidFill>
              </a:rPr>
              <a:t>. Available at: </a:t>
            </a:r>
            <a:r>
              <a:rPr lang="en" u="sng">
                <a:solidFill>
                  <a:srgbClr val="D7B392"/>
                </a:solidFill>
                <a:hlinkClick r:id="rId3">
                  <a:extLst>
                    <a:ext uri="{A12FA001-AC4F-418D-AE19-62706E023703}">
                      <ahyp:hlinkClr val="tx"/>
                    </a:ext>
                  </a:extLst>
                </a:hlinkClick>
              </a:rPr>
              <a:t>Week 4 - First Person Shooter</a:t>
            </a:r>
            <a:r>
              <a:rPr lang="en">
                <a:solidFill>
                  <a:srgbClr val="D7B392"/>
                </a:solidFill>
              </a:rPr>
              <a:t> (Accessed on: 30/09/2024 - 18/11/2024)</a:t>
            </a:r>
            <a:endParaRPr>
              <a:solidFill>
                <a:srgbClr val="D7B392"/>
              </a:solidFill>
            </a:endParaRPr>
          </a:p>
          <a:p>
            <a:pPr indent="-342900" lvl="0" marL="457200" rtl="0" algn="l">
              <a:spcBef>
                <a:spcPts val="0"/>
              </a:spcBef>
              <a:spcAft>
                <a:spcPts val="0"/>
              </a:spcAft>
              <a:buClr>
                <a:srgbClr val="D7B392"/>
              </a:buClr>
              <a:buSzPts val="1800"/>
              <a:buChar char="●"/>
            </a:pPr>
            <a:r>
              <a:rPr lang="en">
                <a:solidFill>
                  <a:srgbClr val="D7B392"/>
                </a:solidFill>
              </a:rPr>
              <a:t>Ulibarri, S.S., (2020) </a:t>
            </a:r>
            <a:r>
              <a:rPr i="1" lang="en">
                <a:solidFill>
                  <a:srgbClr val="D7B392"/>
                </a:solidFill>
              </a:rPr>
              <a:t>Unreal Engine C++ the Ultimate Developer’s H</a:t>
            </a:r>
            <a:r>
              <a:rPr i="1" lang="en">
                <a:solidFill>
                  <a:srgbClr val="D7B392"/>
                </a:solidFill>
              </a:rPr>
              <a:t>andbook</a:t>
            </a:r>
            <a:r>
              <a:rPr lang="en">
                <a:solidFill>
                  <a:srgbClr val="D7B392"/>
                </a:solidFill>
              </a:rPr>
              <a:t>. 1st Edition. Great Britain: Amazon.</a:t>
            </a:r>
            <a:endParaRPr>
              <a:solidFill>
                <a:srgbClr val="D7B39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